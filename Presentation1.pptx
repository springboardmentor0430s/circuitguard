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9559" autoAdjust="0"/>
    <p:restoredTop sz="94660"/>
  </p:normalViewPr>
  <p:slideViewPr>
    <p:cSldViewPr snapToGrid="0">
      <p:cViewPr varScale="1">
        <p:scale>
          <a:sx n="81" d="100"/>
          <a:sy n="81" d="100"/>
        </p:scale>
        <p:origin x="133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0CE96-DD41-41E7-B5F3-05E7D71C0240}"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256D23-ED4A-4F45-9FF7-69B759CE809D}" type="slidenum">
              <a:rPr lang="en-US" smtClean="0"/>
              <a:t>‹#›</a:t>
            </a:fld>
            <a:endParaRPr lang="en-US"/>
          </a:p>
        </p:txBody>
      </p:sp>
    </p:spTree>
    <p:extLst>
      <p:ext uri="{BB962C8B-B14F-4D97-AF65-F5344CB8AC3E}">
        <p14:creationId xmlns:p14="http://schemas.microsoft.com/office/powerpoint/2010/main" val="73486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8256D23-ED4A-4F45-9FF7-69B759CE809D}" type="slidenum">
              <a:rPr lang="en-US" smtClean="0"/>
              <a:t>2</a:t>
            </a:fld>
            <a:endParaRPr lang="en-US"/>
          </a:p>
        </p:txBody>
      </p:sp>
    </p:spTree>
    <p:extLst>
      <p:ext uri="{BB962C8B-B14F-4D97-AF65-F5344CB8AC3E}">
        <p14:creationId xmlns:p14="http://schemas.microsoft.com/office/powerpoint/2010/main" val="247776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EF52-B314-6447-DEDA-5D8F2D890C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FC8618-E563-5DB4-7A6D-9A2FD857E9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8E5945B-75C0-0A9D-7D29-275B75E5E91A}"/>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C2EF9C98-DD6A-3833-BD91-87D6F457C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D6B52-90E7-8ACD-05BD-959F1CC1B6A7}"/>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219606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BF426-1872-9EDE-A2A7-9E5404A1A4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5136C8-E165-265E-B361-BE42CFF35C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90AED-6293-18A6-2FA6-61DC1956FA79}"/>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CD45EECC-99D1-6D38-2700-2AC301F1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5CDB8-4C04-8464-4C26-B309BB1BAB9E}"/>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130891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F10A-FF28-512A-8700-31F68B88CC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9482A6-AB25-39DB-4FE9-ED10877FF7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D7CCB-3630-0DAD-CFC5-E7970750A669}"/>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93DBC75A-759C-7033-26A4-E33B75A49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245B72-EA42-0E91-EC43-A3FA8C74E7C0}"/>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4267546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FC83-E97E-7542-1C6D-5170AAF7D1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EEAC0-6FA8-7D3A-E107-BC18E1EAF3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D659A1-74E6-2378-D81A-35EEA958C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6A0CE7-D843-89C7-1453-45A2D81485FF}"/>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6" name="Footer Placeholder 5">
            <a:extLst>
              <a:ext uri="{FF2B5EF4-FFF2-40B4-BE49-F238E27FC236}">
                <a16:creationId xmlns:a16="http://schemas.microsoft.com/office/drawing/2014/main" id="{A876E2DC-72C7-D16F-3F96-8100988CBA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EBBAA-7AA6-DA16-6364-8A8EDB133C30}"/>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3008541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3037D-C79A-0D29-2A1C-584646FFC0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35FB4C-457F-0F3C-D50F-6455937E8C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BBB782-8C7C-A19E-4209-81290397C4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6629DC-6B0F-96F5-3C48-C1BE07891A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664483-8676-F476-D738-3621D510A1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21894F-7B1E-2E51-1300-CF7840995CB7}"/>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8" name="Footer Placeholder 7">
            <a:extLst>
              <a:ext uri="{FF2B5EF4-FFF2-40B4-BE49-F238E27FC236}">
                <a16:creationId xmlns:a16="http://schemas.microsoft.com/office/drawing/2014/main" id="{2A50217B-BF99-6AF4-6ED7-43E7F3D5D7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F5339B-FE0C-D0E6-8A59-B1206CBF9941}"/>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532881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281E2-4BCD-DA41-9D33-670D3A399F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80B9CD-50D8-49BF-7D80-36FEF13E9D6F}"/>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4" name="Footer Placeholder 3">
            <a:extLst>
              <a:ext uri="{FF2B5EF4-FFF2-40B4-BE49-F238E27FC236}">
                <a16:creationId xmlns:a16="http://schemas.microsoft.com/office/drawing/2014/main" id="{F5134CEC-05E0-5DF6-1192-355E77F57D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5A56F6-B16F-C854-AE3C-7B371AF5C694}"/>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2706969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405A1C-AFEE-C5B5-E53F-951D02FE84FD}"/>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3" name="Footer Placeholder 2">
            <a:extLst>
              <a:ext uri="{FF2B5EF4-FFF2-40B4-BE49-F238E27FC236}">
                <a16:creationId xmlns:a16="http://schemas.microsoft.com/office/drawing/2014/main" id="{C910AE57-5291-5A69-71F4-D5E12E370C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1EE27C-096C-5B0D-7100-A1B49B0157D0}"/>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1789560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72E62-CD3D-6AFD-0E72-A2861B1281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DD714E-4C4B-1EC4-41BA-3D4400D41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F784A3-FD9F-D614-60AE-1D0FE8793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C1AD45-3C03-EB78-1B00-4B5E15273CC5}"/>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6" name="Footer Placeholder 5">
            <a:extLst>
              <a:ext uri="{FF2B5EF4-FFF2-40B4-BE49-F238E27FC236}">
                <a16:creationId xmlns:a16="http://schemas.microsoft.com/office/drawing/2014/main" id="{D57FA75A-B036-BBA1-959E-0A278854D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A1CCEC-01D6-10A4-415E-A8B6E75661B1}"/>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1830025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1B34-17DB-CF4F-E1B8-96E99F33CA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9BED92-E15D-BAA9-F259-A095410246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9EA09B-BF16-8C1D-B40B-B4C6F39F7C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A89133-2DF0-4DFF-5C95-2A1CA1F45891}"/>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6" name="Footer Placeholder 5">
            <a:extLst>
              <a:ext uri="{FF2B5EF4-FFF2-40B4-BE49-F238E27FC236}">
                <a16:creationId xmlns:a16="http://schemas.microsoft.com/office/drawing/2014/main" id="{E5250FCC-8BC1-84A1-9637-2F52DF1B0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B49B2F-79D5-3AE8-9F42-3E689A1018F7}"/>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148276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D50E8-3EEF-C0C6-3C13-AF49158024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71EC24-D50D-ED0E-864A-EB1F37F93C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EDF54A-D826-65BB-7B5F-A93B87F39CA4}"/>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51C6948C-39A6-2F8E-E80F-A220E605E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AE5C8-A823-427F-C093-A6E2B54EC466}"/>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1074991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DD5B37-B1AE-D5FA-5EC1-8F42619BDA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864C5-E62E-3983-D04B-D6AAEB1C2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D4C211-A8CD-9E19-B156-E9C32177D628}"/>
              </a:ext>
            </a:extLst>
          </p:cNvPr>
          <p:cNvSpPr>
            <a:spLocks noGrp="1"/>
          </p:cNvSpPr>
          <p:nvPr>
            <p:ph type="dt" sz="half" idx="10"/>
          </p:nvPr>
        </p:nvSpPr>
        <p:spPr/>
        <p:txBody>
          <a:body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27379CEB-B6CB-A961-64FF-D6D714491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03CF51-7087-DB4C-8DF4-CE4650A1A7DD}"/>
              </a:ext>
            </a:extLst>
          </p:cNvPr>
          <p:cNvSpPr>
            <a:spLocks noGrp="1"/>
          </p:cNvSpPr>
          <p:nvPr>
            <p:ph type="sldNum" sz="quarter" idx="12"/>
          </p:nvPr>
        </p:nvSpPr>
        <p:spPr/>
        <p:txBody>
          <a:bodyPr/>
          <a:lstStyle/>
          <a:p>
            <a:fld id="{6DB92A3E-F049-4067-ABBB-3A37DB026836}" type="slidenum">
              <a:rPr lang="en-US" smtClean="0"/>
              <a:t>‹#›</a:t>
            </a:fld>
            <a:endParaRPr lang="en-US"/>
          </a:p>
        </p:txBody>
      </p:sp>
    </p:spTree>
    <p:extLst>
      <p:ext uri="{BB962C8B-B14F-4D97-AF65-F5344CB8AC3E}">
        <p14:creationId xmlns:p14="http://schemas.microsoft.com/office/powerpoint/2010/main" val="2747136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09D0B-95B5-6DEE-B82A-29B33ED4D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865F1C-88E4-AC84-7BB5-0A3DD6D98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D3F32-1683-978E-481E-548397704A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9BEF35-1CC4-4D33-807D-C84FE849DCBA}" type="datetimeFigureOut">
              <a:rPr lang="en-US" smtClean="0"/>
              <a:t>11/17/2025</a:t>
            </a:fld>
            <a:endParaRPr lang="en-US"/>
          </a:p>
        </p:txBody>
      </p:sp>
      <p:sp>
        <p:nvSpPr>
          <p:cNvPr id="5" name="Footer Placeholder 4">
            <a:extLst>
              <a:ext uri="{FF2B5EF4-FFF2-40B4-BE49-F238E27FC236}">
                <a16:creationId xmlns:a16="http://schemas.microsoft.com/office/drawing/2014/main" id="{65D28B1D-7416-167D-F2F2-8CB177AB3F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EC34A2-6B18-68F9-2FAB-1201DD560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B92A3E-F049-4067-ABBB-3A37DB026836}" type="slidenum">
              <a:rPr lang="en-US" smtClean="0"/>
              <a:t>‹#›</a:t>
            </a:fld>
            <a:endParaRPr lang="en-US"/>
          </a:p>
        </p:txBody>
      </p:sp>
    </p:spTree>
    <p:extLst>
      <p:ext uri="{BB962C8B-B14F-4D97-AF65-F5344CB8AC3E}">
        <p14:creationId xmlns:p14="http://schemas.microsoft.com/office/powerpoint/2010/main" val="2434287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6321-E7C2-104F-9F5F-02DA285CA836}"/>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09E35A80-B8D2-80FA-D1F9-653F3B83731A}"/>
              </a:ext>
            </a:extLst>
          </p:cNvPr>
          <p:cNvSpPr>
            <a:spLocks noGrp="1"/>
          </p:cNvSpPr>
          <p:nvPr>
            <p:ph type="subTitle" idx="1"/>
          </p:nvPr>
        </p:nvSpPr>
        <p:spPr>
          <a:xfrm>
            <a:off x="1524000" y="5090474"/>
            <a:ext cx="9144000" cy="544398"/>
          </a:xfrm>
        </p:spPr>
        <p:txBody>
          <a:bodyPr>
            <a:normAutofit fontScale="25000" lnSpcReduction="20000"/>
          </a:bodyPr>
          <a:lstStyle/>
          <a:p>
            <a:r>
              <a:rPr lang="en-US" dirty="0"/>
              <a:t>     </a:t>
            </a:r>
            <a:r>
              <a:rPr lang="en-US" sz="8000" dirty="0">
                <a:latin typeface="Lucida Fax" panose="02060602050505020204" pitchFamily="18" charset="0"/>
              </a:rPr>
              <a:t>Submitted by : Thrinayani Reddy </a:t>
            </a:r>
          </a:p>
          <a:p>
            <a:r>
              <a:rPr lang="en-US" sz="8000" dirty="0">
                <a:latin typeface="Lucida Fax" panose="02060602050505020204" pitchFamily="18" charset="0"/>
              </a:rPr>
              <a:t>Submitted to : G. </a:t>
            </a:r>
            <a:r>
              <a:rPr lang="en-US" sz="8000" dirty="0" err="1">
                <a:latin typeface="Lucida Fax" panose="02060602050505020204" pitchFamily="18" charset="0"/>
              </a:rPr>
              <a:t>Navinash</a:t>
            </a:r>
            <a:r>
              <a:rPr lang="en-US" sz="8000" dirty="0">
                <a:latin typeface="Lucida Fax" panose="02060602050505020204" pitchFamily="18" charset="0"/>
              </a:rPr>
              <a:t> sir </a:t>
            </a:r>
          </a:p>
          <a:p>
            <a:endParaRPr lang="en-US" dirty="0"/>
          </a:p>
          <a:p>
            <a:endParaRPr lang="en-US" dirty="0"/>
          </a:p>
        </p:txBody>
      </p:sp>
      <p:pic>
        <p:nvPicPr>
          <p:cNvPr id="5" name="Picture 4">
            <a:extLst>
              <a:ext uri="{FF2B5EF4-FFF2-40B4-BE49-F238E27FC236}">
                <a16:creationId xmlns:a16="http://schemas.microsoft.com/office/drawing/2014/main" id="{E2E24486-858F-8243-6CAB-26FB7BAB1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930" y="176082"/>
            <a:ext cx="9916998" cy="4345757"/>
          </a:xfrm>
          <a:prstGeom prst="rect">
            <a:avLst/>
          </a:prstGeom>
        </p:spPr>
      </p:pic>
    </p:spTree>
    <p:extLst>
      <p:ext uri="{BB962C8B-B14F-4D97-AF65-F5344CB8AC3E}">
        <p14:creationId xmlns:p14="http://schemas.microsoft.com/office/powerpoint/2010/main" val="175540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D26950-EF3E-6DA8-9FB9-8CC3E8EB0803}"/>
              </a:ext>
            </a:extLst>
          </p:cNvPr>
          <p:cNvSpPr txBox="1"/>
          <p:nvPr/>
        </p:nvSpPr>
        <p:spPr>
          <a:xfrm>
            <a:off x="3252248" y="329938"/>
            <a:ext cx="5137608" cy="584775"/>
          </a:xfrm>
          <a:prstGeom prst="rect">
            <a:avLst/>
          </a:prstGeom>
          <a:noFill/>
          <a:effectLst>
            <a:outerShdw blurRad="152400" dist="317500" dir="5400000" sx="90000" sy="-19000" rotWithShape="0">
              <a:prstClr val="black">
                <a:alpha val="15000"/>
              </a:prstClr>
            </a:outerShdw>
          </a:effectLst>
        </p:spPr>
        <p:txBody>
          <a:bodyPr wrap="square" rtlCol="0">
            <a:spAutoFit/>
          </a:bodyPr>
          <a:lstStyle/>
          <a:p>
            <a:r>
              <a:rPr lang="en-US" sz="3200" u="sng" dirty="0">
                <a:solidFill>
                  <a:schemeClr val="tx2"/>
                </a:solidFill>
                <a:latin typeface="Algerian" panose="04020705040A02060702" pitchFamily="82" charset="0"/>
              </a:rPr>
              <a:t>PCB ERROR DETECTION </a:t>
            </a:r>
          </a:p>
        </p:txBody>
      </p:sp>
      <p:sp>
        <p:nvSpPr>
          <p:cNvPr id="3" name="TextBox 2">
            <a:extLst>
              <a:ext uri="{FF2B5EF4-FFF2-40B4-BE49-F238E27FC236}">
                <a16:creationId xmlns:a16="http://schemas.microsoft.com/office/drawing/2014/main" id="{AE5DF586-0D32-4A71-DA9D-9607DB225D72}"/>
              </a:ext>
            </a:extLst>
          </p:cNvPr>
          <p:cNvSpPr txBox="1"/>
          <p:nvPr/>
        </p:nvSpPr>
        <p:spPr>
          <a:xfrm>
            <a:off x="565607" y="1253765"/>
            <a:ext cx="3368230" cy="461665"/>
          </a:xfrm>
          <a:prstGeom prst="rect">
            <a:avLst/>
          </a:prstGeom>
          <a:noFill/>
        </p:spPr>
        <p:txBody>
          <a:bodyPr wrap="none" rtlCol="0">
            <a:spAutoFit/>
          </a:bodyPr>
          <a:lstStyle/>
          <a:p>
            <a:r>
              <a:rPr lang="en-US" sz="2400" b="1" dirty="0">
                <a:solidFill>
                  <a:schemeClr val="tx2">
                    <a:lumMod val="75000"/>
                  </a:schemeClr>
                </a:solidFill>
                <a:latin typeface="Lucida Fax" panose="02060602050505020204" pitchFamily="18" charset="0"/>
              </a:rPr>
              <a:t>Problem</a:t>
            </a:r>
            <a:r>
              <a:rPr lang="en-US" sz="2400" dirty="0">
                <a:solidFill>
                  <a:schemeClr val="tx2">
                    <a:lumMod val="75000"/>
                  </a:schemeClr>
                </a:solidFill>
                <a:latin typeface="Lucida Fax" panose="02060602050505020204" pitchFamily="18" charset="0"/>
              </a:rPr>
              <a:t> </a:t>
            </a:r>
            <a:r>
              <a:rPr lang="en-US" sz="2400" b="1" dirty="0">
                <a:solidFill>
                  <a:schemeClr val="tx2">
                    <a:lumMod val="75000"/>
                  </a:schemeClr>
                </a:solidFill>
                <a:latin typeface="Lucida Fax" panose="02060602050505020204" pitchFamily="18" charset="0"/>
              </a:rPr>
              <a:t>statement</a:t>
            </a:r>
            <a:r>
              <a:rPr lang="en-US" sz="2400" dirty="0">
                <a:solidFill>
                  <a:schemeClr val="tx2">
                    <a:lumMod val="75000"/>
                  </a:schemeClr>
                </a:solidFill>
                <a:latin typeface="Lucida Fax" panose="02060602050505020204" pitchFamily="18" charset="0"/>
              </a:rPr>
              <a:t> </a:t>
            </a:r>
          </a:p>
        </p:txBody>
      </p:sp>
      <p:sp>
        <p:nvSpPr>
          <p:cNvPr id="4" name="TextBox 3">
            <a:extLst>
              <a:ext uri="{FF2B5EF4-FFF2-40B4-BE49-F238E27FC236}">
                <a16:creationId xmlns:a16="http://schemas.microsoft.com/office/drawing/2014/main" id="{57F93BB5-1E3D-B6EF-F24F-8382E1BAA35B}"/>
              </a:ext>
            </a:extLst>
          </p:cNvPr>
          <p:cNvSpPr txBox="1"/>
          <p:nvPr/>
        </p:nvSpPr>
        <p:spPr>
          <a:xfrm>
            <a:off x="1443038" y="2054482"/>
            <a:ext cx="8786812" cy="2862322"/>
          </a:xfrm>
          <a:prstGeom prst="rect">
            <a:avLst/>
          </a:prstGeom>
          <a:noFill/>
        </p:spPr>
        <p:txBody>
          <a:bodyPr wrap="square" rtlCol="0">
            <a:spAutoFit/>
          </a:bodyPr>
          <a:lstStyle/>
          <a:p>
            <a:r>
              <a:rPr lang="en-US" sz="2000" dirty="0">
                <a:latin typeface="+mj-lt"/>
              </a:rPr>
              <a:t>The objective is to develop an automated defect detection and classification system for Printed</a:t>
            </a:r>
          </a:p>
          <a:p>
            <a:r>
              <a:rPr lang="en-US" sz="2000" dirty="0">
                <a:latin typeface="+mj-lt"/>
              </a:rPr>
              <a:t>Circuit Boards (PCBs) using image processing and deep learning techniques. The system will</a:t>
            </a:r>
          </a:p>
          <a:p>
            <a:r>
              <a:rPr lang="en-US" sz="2000" dirty="0">
                <a:latin typeface="+mj-lt"/>
              </a:rPr>
              <a:t>employ reference-based image subtraction, contour extraction, and CNN-based classification to</a:t>
            </a:r>
          </a:p>
          <a:p>
            <a:r>
              <a:rPr lang="en-US" sz="2000" dirty="0">
                <a:latin typeface="+mj-lt"/>
              </a:rPr>
              <a:t>identify and label defects. A fully functional frontend web application will be developed to allow</a:t>
            </a:r>
          </a:p>
          <a:p>
            <a:r>
              <a:rPr lang="en-US" sz="2000" dirty="0">
                <a:latin typeface="+mj-lt"/>
              </a:rPr>
              <a:t>users to upload PCB images and receive labeled outputs highlighting defects.</a:t>
            </a:r>
          </a:p>
        </p:txBody>
      </p:sp>
    </p:spTree>
    <p:extLst>
      <p:ext uri="{BB962C8B-B14F-4D97-AF65-F5344CB8AC3E}">
        <p14:creationId xmlns:p14="http://schemas.microsoft.com/office/powerpoint/2010/main" val="3170434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BA93B2-5D14-2203-3890-448DEA30567D}"/>
              </a:ext>
            </a:extLst>
          </p:cNvPr>
          <p:cNvSpPr txBox="1"/>
          <p:nvPr/>
        </p:nvSpPr>
        <p:spPr>
          <a:xfrm>
            <a:off x="342900" y="285751"/>
            <a:ext cx="3429000" cy="523220"/>
          </a:xfrm>
          <a:prstGeom prst="rect">
            <a:avLst/>
          </a:prstGeom>
          <a:noFill/>
        </p:spPr>
        <p:txBody>
          <a:bodyPr wrap="square" rtlCol="0">
            <a:spAutoFit/>
          </a:bodyPr>
          <a:lstStyle/>
          <a:p>
            <a:r>
              <a:rPr lang="en-US" sz="2800" dirty="0">
                <a:latin typeface="Lucida Fax" panose="02060602050505020204" pitchFamily="18" charset="0"/>
              </a:rPr>
              <a:t>Working process </a:t>
            </a:r>
          </a:p>
        </p:txBody>
      </p:sp>
      <p:pic>
        <p:nvPicPr>
          <p:cNvPr id="4" name="Picture 3">
            <a:extLst>
              <a:ext uri="{FF2B5EF4-FFF2-40B4-BE49-F238E27FC236}">
                <a16:creationId xmlns:a16="http://schemas.microsoft.com/office/drawing/2014/main" id="{B4760C10-BFE7-CE01-EA00-00BFE0CF3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8863" y="808971"/>
            <a:ext cx="5851207" cy="5763277"/>
          </a:xfrm>
          <a:prstGeom prst="rect">
            <a:avLst/>
          </a:prstGeom>
        </p:spPr>
      </p:pic>
    </p:spTree>
    <p:extLst>
      <p:ext uri="{BB962C8B-B14F-4D97-AF65-F5344CB8AC3E}">
        <p14:creationId xmlns:p14="http://schemas.microsoft.com/office/powerpoint/2010/main" val="3228955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BC1B06-FFED-8ED5-4242-7EEB689EB4A2}"/>
              </a:ext>
            </a:extLst>
          </p:cNvPr>
          <p:cNvSpPr txBox="1"/>
          <p:nvPr/>
        </p:nvSpPr>
        <p:spPr>
          <a:xfrm>
            <a:off x="128589" y="185739"/>
            <a:ext cx="4057650" cy="461665"/>
          </a:xfrm>
          <a:prstGeom prst="rect">
            <a:avLst/>
          </a:prstGeom>
          <a:noFill/>
        </p:spPr>
        <p:txBody>
          <a:bodyPr wrap="square" rtlCol="0">
            <a:spAutoFit/>
          </a:bodyPr>
          <a:lstStyle/>
          <a:p>
            <a:r>
              <a:rPr lang="en-US" sz="2400" b="1" dirty="0">
                <a:latin typeface="Lucida Fax" panose="02060602050505020204" pitchFamily="18" charset="0"/>
              </a:rPr>
              <a:t>Interface image: </a:t>
            </a:r>
          </a:p>
        </p:txBody>
      </p:sp>
      <p:pic>
        <p:nvPicPr>
          <p:cNvPr id="3" name="Picture 2">
            <a:extLst>
              <a:ext uri="{FF2B5EF4-FFF2-40B4-BE49-F238E27FC236}">
                <a16:creationId xmlns:a16="http://schemas.microsoft.com/office/drawing/2014/main" id="{188C524B-D007-E5F4-E822-9083CEF4D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589" y="828675"/>
            <a:ext cx="6172199" cy="5672138"/>
          </a:xfrm>
          <a:prstGeom prst="rect">
            <a:avLst/>
          </a:prstGeom>
        </p:spPr>
      </p:pic>
      <p:sp>
        <p:nvSpPr>
          <p:cNvPr id="5" name="TextBox 4">
            <a:extLst>
              <a:ext uri="{FF2B5EF4-FFF2-40B4-BE49-F238E27FC236}">
                <a16:creationId xmlns:a16="http://schemas.microsoft.com/office/drawing/2014/main" id="{8D726062-F22E-41DA-921B-7F500E6877BB}"/>
              </a:ext>
            </a:extLst>
          </p:cNvPr>
          <p:cNvSpPr txBox="1"/>
          <p:nvPr/>
        </p:nvSpPr>
        <p:spPr>
          <a:xfrm>
            <a:off x="6300788" y="1161573"/>
            <a:ext cx="5514975" cy="2246769"/>
          </a:xfrm>
          <a:prstGeom prst="rect">
            <a:avLst/>
          </a:prstGeom>
          <a:noFill/>
        </p:spPr>
        <p:txBody>
          <a:bodyPr wrap="square">
            <a:spAutoFit/>
          </a:bodyPr>
          <a:lstStyle/>
          <a:p>
            <a:r>
              <a:rPr lang="en-US" sz="2000" dirty="0">
                <a:effectLst/>
                <a:latin typeface="+mj-lt"/>
                <a:ea typeface="Calibri" panose="020F0502020204030204" pitchFamily="34" charset="0"/>
              </a:rPr>
              <a:t>Above image is the interface of the uploading image. Here the golden image is already inbuilt and you just need to upload only the image of </a:t>
            </a:r>
            <a:r>
              <a:rPr lang="en-US" sz="2000" dirty="0" err="1">
                <a:effectLst/>
                <a:latin typeface="+mj-lt"/>
                <a:ea typeface="Calibri" panose="020F0502020204030204" pitchFamily="34" charset="0"/>
              </a:rPr>
              <a:t>pcb</a:t>
            </a:r>
            <a:r>
              <a:rPr lang="en-US" sz="2000" dirty="0">
                <a:effectLst/>
                <a:latin typeface="+mj-lt"/>
                <a:ea typeface="Calibri" panose="020F0502020204030204" pitchFamily="34" charset="0"/>
              </a:rPr>
              <a:t> which we have to find the defects and we have to give the confidence limit. Here the confidence limit refers to the minimum amount of accuracy we need in the output image.</a:t>
            </a:r>
            <a:endParaRPr lang="en-US" sz="2000" dirty="0">
              <a:latin typeface="+mj-lt"/>
            </a:endParaRPr>
          </a:p>
        </p:txBody>
      </p:sp>
    </p:spTree>
    <p:extLst>
      <p:ext uri="{BB962C8B-B14F-4D97-AF65-F5344CB8AC3E}">
        <p14:creationId xmlns:p14="http://schemas.microsoft.com/office/powerpoint/2010/main" val="182694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6BCF2-F332-8459-082A-A09F93A32D17}"/>
              </a:ext>
            </a:extLst>
          </p:cNvPr>
          <p:cNvSpPr txBox="1"/>
          <p:nvPr/>
        </p:nvSpPr>
        <p:spPr>
          <a:xfrm>
            <a:off x="1" y="128588"/>
            <a:ext cx="4171950" cy="461665"/>
          </a:xfrm>
          <a:prstGeom prst="rect">
            <a:avLst/>
          </a:prstGeom>
          <a:noFill/>
        </p:spPr>
        <p:txBody>
          <a:bodyPr wrap="square" rtlCol="0">
            <a:spAutoFit/>
          </a:bodyPr>
          <a:lstStyle/>
          <a:p>
            <a:r>
              <a:rPr lang="en-US" sz="2400" b="1" dirty="0">
                <a:latin typeface="Lucida Fax" panose="02060602050505020204" pitchFamily="18" charset="0"/>
              </a:rPr>
              <a:t>Image of defects : </a:t>
            </a:r>
          </a:p>
        </p:txBody>
      </p:sp>
      <p:pic>
        <p:nvPicPr>
          <p:cNvPr id="3" name="Picture 2">
            <a:extLst>
              <a:ext uri="{FF2B5EF4-FFF2-40B4-BE49-F238E27FC236}">
                <a16:creationId xmlns:a16="http://schemas.microsoft.com/office/drawing/2014/main" id="{795B27D1-509E-7CB5-298E-2E614FC38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8232"/>
            <a:ext cx="6486525" cy="4459605"/>
          </a:xfrm>
          <a:prstGeom prst="rect">
            <a:avLst/>
          </a:prstGeom>
        </p:spPr>
      </p:pic>
      <p:sp>
        <p:nvSpPr>
          <p:cNvPr id="5" name="TextBox 4">
            <a:extLst>
              <a:ext uri="{FF2B5EF4-FFF2-40B4-BE49-F238E27FC236}">
                <a16:creationId xmlns:a16="http://schemas.microsoft.com/office/drawing/2014/main" id="{40A4934D-A6B7-9285-AE97-E8051418C610}"/>
              </a:ext>
            </a:extLst>
          </p:cNvPr>
          <p:cNvSpPr txBox="1"/>
          <p:nvPr/>
        </p:nvSpPr>
        <p:spPr>
          <a:xfrm>
            <a:off x="6486525" y="1300163"/>
            <a:ext cx="5319713" cy="1029256"/>
          </a:xfrm>
          <a:prstGeom prst="rect">
            <a:avLst/>
          </a:prstGeom>
          <a:noFill/>
        </p:spPr>
        <p:txBody>
          <a:bodyPr wrap="square">
            <a:spAutoFit/>
          </a:bodyPr>
          <a:lstStyle/>
          <a:p>
            <a:pPr marL="0" marR="0">
              <a:lnSpc>
                <a:spcPct val="115000"/>
              </a:lnSpc>
              <a:spcAft>
                <a:spcPts val="800"/>
              </a:spcAft>
              <a:buNone/>
            </a:pPr>
            <a:r>
              <a:rPr lang="en-US" sz="1800" kern="100" dirty="0">
                <a:effectLst/>
                <a:latin typeface="Calibri Light" panose="020F0302020204030204" pitchFamily="34" charset="0"/>
                <a:ea typeface="Calibri" panose="020F0502020204030204" pitchFamily="34" charset="0"/>
                <a:cs typeface="Times New Roman" panose="02020603050405020304" pitchFamily="18" charset="0"/>
              </a:rPr>
              <a:t>This is the image after finding the defects in the image and it will highlight the part where the defects are arrived.    </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65988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69EF5A-D589-EC88-A6D4-6F42D4C4BF04}"/>
              </a:ext>
            </a:extLst>
          </p:cNvPr>
          <p:cNvSpPr txBox="1"/>
          <p:nvPr/>
        </p:nvSpPr>
        <p:spPr>
          <a:xfrm>
            <a:off x="0" y="157163"/>
            <a:ext cx="2566728" cy="400110"/>
          </a:xfrm>
          <a:prstGeom prst="rect">
            <a:avLst/>
          </a:prstGeom>
          <a:noFill/>
        </p:spPr>
        <p:txBody>
          <a:bodyPr wrap="none" rtlCol="0">
            <a:spAutoFit/>
          </a:bodyPr>
          <a:lstStyle/>
          <a:p>
            <a:r>
              <a:rPr lang="en-US" sz="2000" b="1" dirty="0">
                <a:latin typeface="Lucida Fax" panose="02060602050505020204" pitchFamily="18" charset="0"/>
              </a:rPr>
              <a:t>Accuracy graph : </a:t>
            </a:r>
          </a:p>
        </p:txBody>
      </p:sp>
      <p:pic>
        <p:nvPicPr>
          <p:cNvPr id="3" name="Picture 2">
            <a:extLst>
              <a:ext uri="{FF2B5EF4-FFF2-40B4-BE49-F238E27FC236}">
                <a16:creationId xmlns:a16="http://schemas.microsoft.com/office/drawing/2014/main" id="{FAFADAD5-1451-7CA2-6FBD-5C4A8762C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731838"/>
            <a:ext cx="5943600" cy="4908550"/>
          </a:xfrm>
          <a:prstGeom prst="rect">
            <a:avLst/>
          </a:prstGeom>
        </p:spPr>
      </p:pic>
      <p:sp>
        <p:nvSpPr>
          <p:cNvPr id="5" name="TextBox 4">
            <a:extLst>
              <a:ext uri="{FF2B5EF4-FFF2-40B4-BE49-F238E27FC236}">
                <a16:creationId xmlns:a16="http://schemas.microsoft.com/office/drawing/2014/main" id="{97E569BD-4816-6540-D266-7924C9552AB4}"/>
              </a:ext>
            </a:extLst>
          </p:cNvPr>
          <p:cNvSpPr txBox="1"/>
          <p:nvPr/>
        </p:nvSpPr>
        <p:spPr>
          <a:xfrm>
            <a:off x="278606" y="5814953"/>
            <a:ext cx="6129338" cy="392159"/>
          </a:xfrm>
          <a:prstGeom prst="rect">
            <a:avLst/>
          </a:prstGeom>
          <a:noFill/>
        </p:spPr>
        <p:txBody>
          <a:bodyPr wrap="square">
            <a:spAutoFit/>
          </a:bodyPr>
          <a:lstStyle/>
          <a:p>
            <a:pPr marL="0" marR="0">
              <a:lnSpc>
                <a:spcPct val="115000"/>
              </a:lnSpc>
              <a:spcAft>
                <a:spcPts val="800"/>
              </a:spcAft>
              <a:buNone/>
            </a:pPr>
            <a:r>
              <a:rPr lang="en-US" sz="1800" kern="100" dirty="0">
                <a:effectLst/>
                <a:latin typeface="Calibri Light" panose="020F0302020204030204" pitchFamily="34" charset="0"/>
                <a:ea typeface="Calibri" panose="020F0502020204030204" pitchFamily="34" charset="0"/>
                <a:cs typeface="Times New Roman" panose="02020603050405020304" pitchFamily="18" charset="0"/>
              </a:rPr>
              <a:t>The accuracy we got is 99.16%. </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8383B7F-BA93-5385-CB4D-05964D3EB1E6}"/>
              </a:ext>
            </a:extLst>
          </p:cNvPr>
          <p:cNvSpPr txBox="1"/>
          <p:nvPr/>
        </p:nvSpPr>
        <p:spPr>
          <a:xfrm>
            <a:off x="6843713" y="157163"/>
            <a:ext cx="3857625" cy="400110"/>
          </a:xfrm>
          <a:prstGeom prst="rect">
            <a:avLst/>
          </a:prstGeom>
          <a:noFill/>
        </p:spPr>
        <p:txBody>
          <a:bodyPr wrap="square" rtlCol="0">
            <a:spAutoFit/>
          </a:bodyPr>
          <a:lstStyle/>
          <a:p>
            <a:r>
              <a:rPr lang="en-US" sz="2000" b="1" dirty="0">
                <a:latin typeface="Lucida Fax" panose="02060602050505020204" pitchFamily="18" charset="0"/>
              </a:rPr>
              <a:t>Code for training part : </a:t>
            </a:r>
          </a:p>
        </p:txBody>
      </p:sp>
      <p:pic>
        <p:nvPicPr>
          <p:cNvPr id="7" name="Picture 6">
            <a:extLst>
              <a:ext uri="{FF2B5EF4-FFF2-40B4-BE49-F238E27FC236}">
                <a16:creationId xmlns:a16="http://schemas.microsoft.com/office/drawing/2014/main" id="{FED81B82-362F-F663-DD93-4B9955F505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0806" y="650888"/>
            <a:ext cx="5462588" cy="6049949"/>
          </a:xfrm>
          <a:prstGeom prst="rect">
            <a:avLst/>
          </a:prstGeom>
        </p:spPr>
      </p:pic>
    </p:spTree>
    <p:extLst>
      <p:ext uri="{BB962C8B-B14F-4D97-AF65-F5344CB8AC3E}">
        <p14:creationId xmlns:p14="http://schemas.microsoft.com/office/powerpoint/2010/main" val="2973658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CDDD-90EB-FED0-9866-E177494176E2}"/>
              </a:ext>
            </a:extLst>
          </p:cNvPr>
          <p:cNvSpPr>
            <a:spLocks noGrp="1"/>
          </p:cNvSpPr>
          <p:nvPr>
            <p:ph type="title"/>
          </p:nvPr>
        </p:nvSpPr>
        <p:spPr>
          <a:xfrm>
            <a:off x="66675" y="18255"/>
            <a:ext cx="10515600" cy="1325563"/>
          </a:xfrm>
        </p:spPr>
        <p:txBody>
          <a:bodyPr>
            <a:normAutofit/>
          </a:bodyPr>
          <a:lstStyle/>
          <a:p>
            <a:r>
              <a:rPr lang="en-US" sz="2000" b="1" dirty="0">
                <a:latin typeface="Lucida Fax" panose="02060602050505020204" pitchFamily="18" charset="0"/>
              </a:rPr>
              <a:t>Objectives :</a:t>
            </a:r>
          </a:p>
        </p:txBody>
      </p:sp>
      <p:sp>
        <p:nvSpPr>
          <p:cNvPr id="3" name="Content Placeholder 2">
            <a:extLst>
              <a:ext uri="{FF2B5EF4-FFF2-40B4-BE49-F238E27FC236}">
                <a16:creationId xmlns:a16="http://schemas.microsoft.com/office/drawing/2014/main" id="{F1B36F65-C934-42BF-4D5F-7AD42D0C274B}"/>
              </a:ext>
            </a:extLst>
          </p:cNvPr>
          <p:cNvSpPr>
            <a:spLocks noGrp="1"/>
          </p:cNvSpPr>
          <p:nvPr>
            <p:ph idx="1"/>
          </p:nvPr>
        </p:nvSpPr>
        <p:spPr>
          <a:xfrm>
            <a:off x="66675" y="882650"/>
            <a:ext cx="10515600" cy="1674813"/>
          </a:xfrm>
        </p:spPr>
        <p:txBody>
          <a:bodyPr>
            <a:normAutofit/>
          </a:bodyPr>
          <a:lstStyle/>
          <a:p>
            <a:pPr lvl="0"/>
            <a:r>
              <a:rPr lang="en-US" sz="1800" dirty="0">
                <a:latin typeface="+mj-lt"/>
              </a:rPr>
              <a:t>To analyze PDB structures and identify common structural errors.</a:t>
            </a:r>
          </a:p>
          <a:p>
            <a:pPr lvl="0"/>
            <a:r>
              <a:rPr lang="en-US" sz="1800" dirty="0">
                <a:latin typeface="+mj-lt"/>
              </a:rPr>
              <a:t>To detect missing residues and incomplete chain segments.</a:t>
            </a:r>
          </a:p>
          <a:p>
            <a:pPr lvl="0"/>
            <a:r>
              <a:rPr lang="en-US" sz="1800" dirty="0">
                <a:latin typeface="+mj-lt"/>
              </a:rPr>
              <a:t>To evaluate steric clashes and geometric inconsistencies.</a:t>
            </a:r>
          </a:p>
          <a:p>
            <a:r>
              <a:rPr lang="en-US" sz="1800" dirty="0">
                <a:latin typeface="+mj-lt"/>
              </a:rPr>
              <a:t>To document findings for improving downstream structure-related analyses</a:t>
            </a:r>
          </a:p>
        </p:txBody>
      </p:sp>
      <p:sp>
        <p:nvSpPr>
          <p:cNvPr id="4" name="TextBox 3">
            <a:extLst>
              <a:ext uri="{FF2B5EF4-FFF2-40B4-BE49-F238E27FC236}">
                <a16:creationId xmlns:a16="http://schemas.microsoft.com/office/drawing/2014/main" id="{95173356-4EFD-9DD7-22A2-CFFE331AA7F1}"/>
              </a:ext>
            </a:extLst>
          </p:cNvPr>
          <p:cNvSpPr txBox="1"/>
          <p:nvPr/>
        </p:nvSpPr>
        <p:spPr>
          <a:xfrm>
            <a:off x="66675" y="2453767"/>
            <a:ext cx="6786563" cy="1508105"/>
          </a:xfrm>
          <a:prstGeom prst="rect">
            <a:avLst/>
          </a:prstGeom>
          <a:noFill/>
        </p:spPr>
        <p:txBody>
          <a:bodyPr wrap="square" rtlCol="0">
            <a:spAutoFit/>
          </a:bodyPr>
          <a:lstStyle/>
          <a:p>
            <a:r>
              <a:rPr lang="en-US" sz="2000" b="1" dirty="0">
                <a:latin typeface="Lucida Fax" panose="02060602050505020204" pitchFamily="18" charset="0"/>
              </a:rPr>
              <a:t>Methodology:</a:t>
            </a:r>
          </a:p>
          <a:p>
            <a:pPr marL="342900" indent="-342900">
              <a:buFont typeface="Arial" panose="020B0604020202020204" pitchFamily="34" charset="0"/>
              <a:buChar char="•"/>
            </a:pPr>
            <a:r>
              <a:rPr lang="en-US" dirty="0">
                <a:latin typeface="+mj-lt"/>
              </a:rPr>
              <a:t>Get the data </a:t>
            </a:r>
          </a:p>
          <a:p>
            <a:pPr marL="342900" indent="-342900">
              <a:buFont typeface="Arial" panose="020B0604020202020204" pitchFamily="34" charset="0"/>
              <a:buChar char="•"/>
            </a:pPr>
            <a:r>
              <a:rPr lang="en-US" dirty="0">
                <a:latin typeface="+mj-lt"/>
              </a:rPr>
              <a:t>Translate the data </a:t>
            </a:r>
          </a:p>
          <a:p>
            <a:pPr marL="342900" indent="-342900">
              <a:buFont typeface="Arial" panose="020B0604020202020204" pitchFamily="34" charset="0"/>
              <a:buChar char="•"/>
            </a:pPr>
            <a:r>
              <a:rPr lang="en-US" dirty="0">
                <a:latin typeface="+mj-lt"/>
              </a:rPr>
              <a:t>Finding the flaws</a:t>
            </a:r>
          </a:p>
          <a:p>
            <a:pPr marL="342900" indent="-342900">
              <a:buFont typeface="Arial" panose="020B0604020202020204" pitchFamily="34" charset="0"/>
              <a:buChar char="•"/>
            </a:pPr>
            <a:r>
              <a:rPr lang="en-US" dirty="0">
                <a:latin typeface="+mj-lt"/>
              </a:rPr>
              <a:t>Making the report</a:t>
            </a:r>
            <a:endParaRPr lang="en-US" dirty="0">
              <a:latin typeface="Lucida Fax" panose="02060602050505020204" pitchFamily="18" charset="0"/>
            </a:endParaRPr>
          </a:p>
        </p:txBody>
      </p:sp>
      <p:sp>
        <p:nvSpPr>
          <p:cNvPr id="5" name="TextBox 4">
            <a:extLst>
              <a:ext uri="{FF2B5EF4-FFF2-40B4-BE49-F238E27FC236}">
                <a16:creationId xmlns:a16="http://schemas.microsoft.com/office/drawing/2014/main" id="{46DF7EE7-1E8F-8121-6D12-168D5B0064A1}"/>
              </a:ext>
            </a:extLst>
          </p:cNvPr>
          <p:cNvSpPr txBox="1"/>
          <p:nvPr/>
        </p:nvSpPr>
        <p:spPr>
          <a:xfrm>
            <a:off x="0" y="3961872"/>
            <a:ext cx="3102131" cy="400110"/>
          </a:xfrm>
          <a:prstGeom prst="rect">
            <a:avLst/>
          </a:prstGeom>
          <a:noFill/>
        </p:spPr>
        <p:txBody>
          <a:bodyPr wrap="none" rtlCol="0">
            <a:spAutoFit/>
          </a:bodyPr>
          <a:lstStyle/>
          <a:p>
            <a:r>
              <a:rPr lang="en-US" sz="2000" b="1" dirty="0">
                <a:latin typeface="Lucida Fax" panose="02060602050505020204" pitchFamily="18" charset="0"/>
              </a:rPr>
              <a:t>Result and findings : </a:t>
            </a:r>
          </a:p>
        </p:txBody>
      </p:sp>
      <p:sp>
        <p:nvSpPr>
          <p:cNvPr id="6" name="TextBox 5">
            <a:extLst>
              <a:ext uri="{FF2B5EF4-FFF2-40B4-BE49-F238E27FC236}">
                <a16:creationId xmlns:a16="http://schemas.microsoft.com/office/drawing/2014/main" id="{A1DE3987-6A65-EA34-1E91-BDA7A38E64CD}"/>
              </a:ext>
            </a:extLst>
          </p:cNvPr>
          <p:cNvSpPr txBox="1"/>
          <p:nvPr/>
        </p:nvSpPr>
        <p:spPr>
          <a:xfrm>
            <a:off x="66675" y="4392759"/>
            <a:ext cx="8213569" cy="2308324"/>
          </a:xfrm>
          <a:prstGeom prst="rect">
            <a:avLst/>
          </a:prstGeom>
          <a:noFill/>
        </p:spPr>
        <p:txBody>
          <a:bodyPr wrap="square" rtlCol="0">
            <a:spAutoFit/>
          </a:bodyPr>
          <a:lstStyle/>
          <a:p>
            <a:pPr marL="285750" lvl="0" indent="-285750">
              <a:buFont typeface="Wingdings" panose="05000000000000000000" pitchFamily="2" charset="2"/>
              <a:buChar char="§"/>
            </a:pPr>
            <a:r>
              <a:rPr lang="en-US" dirty="0"/>
              <a:t>Multiple structures contained missing loop regions and unresolved side chains.</a:t>
            </a:r>
          </a:p>
          <a:p>
            <a:pPr marL="285750" lvl="0" indent="-285750">
              <a:buFont typeface="Wingdings" panose="05000000000000000000" pitchFamily="2" charset="2"/>
              <a:buChar char="§"/>
            </a:pPr>
            <a:r>
              <a:rPr lang="en-US" dirty="0"/>
              <a:t>Some proteins exhibited chain discontinuities likely caused by weak electron density.</a:t>
            </a:r>
          </a:p>
          <a:p>
            <a:pPr marL="285750" lvl="0" indent="-285750">
              <a:buFont typeface="Wingdings" panose="05000000000000000000" pitchFamily="2" charset="2"/>
              <a:buChar char="§"/>
            </a:pPr>
            <a:r>
              <a:rPr lang="en-US" dirty="0"/>
              <a:t>Steric clashes were observed at crowded residue interfaces, indicating potential refinement issues.</a:t>
            </a:r>
          </a:p>
          <a:p>
            <a:pPr marL="285750" indent="-285750">
              <a:buFont typeface="Wingdings" panose="05000000000000000000" pitchFamily="2" charset="2"/>
              <a:buChar char="§"/>
            </a:pPr>
            <a:r>
              <a:rPr lang="en-US" dirty="0"/>
              <a:t>Bond angle deviations were minimal but present in flexible regions.</a:t>
            </a:r>
          </a:p>
          <a:p>
            <a:pPr marL="285750" lvl="0" indent="-285750">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204797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C4478-71E5-CFF4-D2EB-8411271B4DBC}"/>
              </a:ext>
            </a:extLst>
          </p:cNvPr>
          <p:cNvSpPr>
            <a:spLocks noGrp="1"/>
          </p:cNvSpPr>
          <p:nvPr>
            <p:ph type="title"/>
          </p:nvPr>
        </p:nvSpPr>
        <p:spPr/>
        <p:txBody>
          <a:bodyPr>
            <a:normAutofit/>
          </a:bodyPr>
          <a:lstStyle/>
          <a:p>
            <a:r>
              <a:rPr lang="en-US" sz="2800" b="1" dirty="0">
                <a:latin typeface="Lucida Fax" panose="02060602050505020204" pitchFamily="18" charset="0"/>
              </a:rPr>
              <a:t>Conclusion : </a:t>
            </a:r>
          </a:p>
        </p:txBody>
      </p:sp>
      <p:sp>
        <p:nvSpPr>
          <p:cNvPr id="3" name="Content Placeholder 2">
            <a:extLst>
              <a:ext uri="{FF2B5EF4-FFF2-40B4-BE49-F238E27FC236}">
                <a16:creationId xmlns:a16="http://schemas.microsoft.com/office/drawing/2014/main" id="{149CBB83-A863-CCA0-1A7D-5F644BCEB7CF}"/>
              </a:ext>
            </a:extLst>
          </p:cNvPr>
          <p:cNvSpPr>
            <a:spLocks noGrp="1"/>
          </p:cNvSpPr>
          <p:nvPr>
            <p:ph idx="1"/>
          </p:nvPr>
        </p:nvSpPr>
        <p:spPr/>
        <p:txBody>
          <a:bodyPr/>
          <a:lstStyle/>
          <a:p>
            <a:r>
              <a:rPr lang="en-US" dirty="0">
                <a:latin typeface="+mj-lt"/>
              </a:rPr>
              <a:t>PDB error detection is essential for ensuring the accuracy and usability of protein structural data. The analysis performed in this project highlights the prevalence of missing residues, steric clashes, and chain discontinuities in protein structures. By identifying these issues early, researchers can refine models or select higher-quality alternatives, improving the reliability of downstream structural and computational analyses. </a:t>
            </a:r>
          </a:p>
          <a:p>
            <a:endParaRPr lang="en-US" dirty="0"/>
          </a:p>
        </p:txBody>
      </p:sp>
    </p:spTree>
    <p:extLst>
      <p:ext uri="{BB962C8B-B14F-4D97-AF65-F5344CB8AC3E}">
        <p14:creationId xmlns:p14="http://schemas.microsoft.com/office/powerpoint/2010/main" val="2596471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367</Words>
  <Application>Microsoft Office PowerPoint</Application>
  <PresentationFormat>Widescreen</PresentationFormat>
  <Paragraphs>35</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Arial</vt:lpstr>
      <vt:lpstr>Calibri</vt:lpstr>
      <vt:lpstr>Calibri Light</vt:lpstr>
      <vt:lpstr>Lucida Fax</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Objectives :</vt:lpstr>
      <vt:lpstr>Conclusion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Challa Thrinayanireddy</dc:creator>
  <cp:lastModifiedBy>Challa Thrinayanireddy</cp:lastModifiedBy>
  <cp:revision>3</cp:revision>
  <dcterms:created xsi:type="dcterms:W3CDTF">2025-11-14T15:58:18Z</dcterms:created>
  <dcterms:modified xsi:type="dcterms:W3CDTF">2025-11-17T04:51:01Z</dcterms:modified>
</cp:coreProperties>
</file>